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52" r:id="rId2"/>
  </p:sldMasterIdLst>
  <p:notesMasterIdLst>
    <p:notesMasterId r:id="rId23"/>
  </p:notesMasterIdLst>
  <p:sldIdLst>
    <p:sldId id="258" r:id="rId3"/>
    <p:sldId id="260" r:id="rId4"/>
    <p:sldId id="259" r:id="rId5"/>
    <p:sldId id="277" r:id="rId6"/>
    <p:sldId id="280" r:id="rId7"/>
    <p:sldId id="261" r:id="rId8"/>
    <p:sldId id="278" r:id="rId9"/>
    <p:sldId id="285" r:id="rId10"/>
    <p:sldId id="284" r:id="rId11"/>
    <p:sldId id="262" r:id="rId12"/>
    <p:sldId id="263" r:id="rId13"/>
    <p:sldId id="274" r:id="rId14"/>
    <p:sldId id="275" r:id="rId15"/>
    <p:sldId id="286" r:id="rId16"/>
    <p:sldId id="281" r:id="rId17"/>
    <p:sldId id="282" r:id="rId18"/>
    <p:sldId id="265" r:id="rId19"/>
    <p:sldId id="264" r:id="rId20"/>
    <p:sldId id="276" r:id="rId21"/>
    <p:sldId id="283" r:id="rId22"/>
  </p:sldIdLst>
  <p:sldSz cx="9144000" cy="6858000" type="screen4x3"/>
  <p:notesSz cx="6858000" cy="9144000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0929"/>
  </p:normalViewPr>
  <p:slideViewPr>
    <p:cSldViewPr>
      <p:cViewPr varScale="1">
        <p:scale>
          <a:sx n="78" d="100"/>
          <a:sy n="78" d="100"/>
        </p:scale>
        <p:origin x="1579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t-IT" alt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it-IT" altLang="en-US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gli stili del testo dello schema</a:t>
            </a:r>
          </a:p>
          <a:p>
            <a:pPr lvl="1"/>
            <a:r>
              <a:rPr lang="it-IT" altLang="en-US"/>
              <a:t>Secondo livello</a:t>
            </a:r>
          </a:p>
          <a:p>
            <a:pPr lvl="2"/>
            <a:r>
              <a:rPr lang="it-IT" altLang="en-US"/>
              <a:t>Terzo livello</a:t>
            </a:r>
          </a:p>
          <a:p>
            <a:pPr lvl="3"/>
            <a:r>
              <a:rPr lang="it-IT" altLang="en-US"/>
              <a:t>Quarto livello</a:t>
            </a:r>
          </a:p>
          <a:p>
            <a:pPr lvl="4"/>
            <a:r>
              <a:rPr lang="it-IT" altLang="en-US"/>
              <a:t>Quinto livello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t-IT" alt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BC22574-4AA5-4BF4-955E-15629EE72EBD}" type="slidenum">
              <a:rPr lang="it-IT" altLang="en-US"/>
              <a:pPr/>
              <a:t>‹N›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7370337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69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930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55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6200" y="1339850"/>
            <a:ext cx="3962400" cy="4114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191000" y="1339850"/>
            <a:ext cx="3962400" cy="4114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65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piè di pagina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06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94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piè di pagina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055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629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727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839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162675" y="-241300"/>
            <a:ext cx="2028825" cy="569595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6200" y="-241300"/>
            <a:ext cx="5934075" cy="569595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02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638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021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518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23900" y="1339850"/>
            <a:ext cx="3962400" cy="4114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838700" y="1339850"/>
            <a:ext cx="3962400" cy="4114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299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piè di pagina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976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8140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piè di pagina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458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2813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3852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298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810375" y="-241300"/>
            <a:ext cx="2028825" cy="569595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23900" y="-241300"/>
            <a:ext cx="5934075" cy="569595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291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D_PP_basic_bianco_3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19100" y="-2413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stile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1339850"/>
            <a:ext cx="8077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gli stili del testo dello schema</a:t>
            </a:r>
          </a:p>
          <a:p>
            <a:pPr lvl="1"/>
            <a:r>
              <a:rPr lang="it-IT" altLang="en-US"/>
              <a:t>Secondo livello</a:t>
            </a:r>
          </a:p>
          <a:p>
            <a:pPr lvl="2"/>
            <a:r>
              <a:rPr lang="it-IT" altLang="en-US"/>
              <a:t>Terzo livello</a:t>
            </a:r>
          </a:p>
          <a:p>
            <a:pPr lvl="3"/>
            <a:r>
              <a:rPr lang="it-IT" altLang="en-US"/>
              <a:t>Quarto livello</a:t>
            </a:r>
          </a:p>
          <a:p>
            <a:pPr lvl="4"/>
            <a:r>
              <a:rPr lang="it-IT" altLang="en-US"/>
              <a:t>Quinto livello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502400" y="6356350"/>
            <a:ext cx="256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rgbClr val="1721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rgbClr val="071B5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rgbClr val="42424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rgbClr val="424242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ern="1200">
          <a:solidFill>
            <a:srgbClr val="424242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 kern="1200">
          <a:solidFill>
            <a:srgbClr val="424242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kern="1200">
          <a:solidFill>
            <a:srgbClr val="42424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D_PP_basic_Vert_3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-2413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stile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23900" y="1339850"/>
            <a:ext cx="8077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gli stili del testo dello schema</a:t>
            </a:r>
          </a:p>
          <a:p>
            <a:pPr lvl="1"/>
            <a:r>
              <a:rPr lang="it-IT" altLang="en-US"/>
              <a:t>Secondo livello</a:t>
            </a:r>
          </a:p>
          <a:p>
            <a:pPr lvl="2"/>
            <a:r>
              <a:rPr lang="it-IT" altLang="en-US"/>
              <a:t>Terzo livello</a:t>
            </a:r>
          </a:p>
          <a:p>
            <a:pPr lvl="3"/>
            <a:r>
              <a:rPr lang="it-IT" altLang="en-US"/>
              <a:t>Quarto livello</a:t>
            </a:r>
          </a:p>
          <a:p>
            <a:pPr lvl="4"/>
            <a:r>
              <a:rPr lang="it-IT" altLang="en-US"/>
              <a:t>Quinto livello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 rot="-5400000">
            <a:off x="-809625" y="4530725"/>
            <a:ext cx="2508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222" name="Line 6"/>
          <p:cNvSpPr>
            <a:spLocks noChangeShapeType="1"/>
          </p:cNvSpPr>
          <p:nvPr/>
        </p:nvSpPr>
        <p:spPr bwMode="auto">
          <a:xfrm>
            <a:off x="1066800" y="914400"/>
            <a:ext cx="8077200" cy="0"/>
          </a:xfrm>
          <a:prstGeom prst="line">
            <a:avLst/>
          </a:prstGeom>
          <a:noFill/>
          <a:ln w="9525">
            <a:solidFill>
              <a:srgbClr val="1721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2800" b="1" kern="1200">
          <a:solidFill>
            <a:srgbClr val="071B5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rgbClr val="42424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rgbClr val="424242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ern="1200">
          <a:solidFill>
            <a:srgbClr val="424242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1600" kern="1200">
          <a:solidFill>
            <a:srgbClr val="424242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600" kern="1200">
          <a:solidFill>
            <a:srgbClr val="42424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/>
              <a:t>INFORMATICA – LM18</a:t>
            </a:r>
            <a:br>
              <a:rPr lang="it-IT" altLang="en-US" dirty="0"/>
            </a:br>
            <a:r>
              <a:rPr lang="it-IT" altLang="en-US" dirty="0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010"/>
            <a:ext cx="7772400" cy="1800200"/>
          </a:xfrm>
        </p:spPr>
        <p:txBody>
          <a:bodyPr/>
          <a:lstStyle/>
          <a:p>
            <a:pPr algn="ctr"/>
            <a:r>
              <a:rPr lang="en-US" altLang="en-US" sz="4000" dirty="0" err="1"/>
              <a:t>MikroMOOD</a:t>
            </a:r>
            <a:br>
              <a:rPr lang="en-US" altLang="en-US" sz="4000" dirty="0"/>
            </a:br>
            <a:r>
              <a:rPr lang="en-US" altLang="en-US" dirty="0" err="1"/>
              <a:t>Sintetizzatore</a:t>
            </a:r>
            <a:r>
              <a:rPr lang="en-US" altLang="en-US" dirty="0"/>
              <a:t> audio </a:t>
            </a:r>
            <a:r>
              <a:rPr lang="en-US" altLang="en-US" dirty="0" err="1"/>
              <a:t>basato</a:t>
            </a:r>
            <a:r>
              <a:rPr lang="en-US" altLang="en-US" dirty="0"/>
              <a:t> </a:t>
            </a:r>
            <a:r>
              <a:rPr lang="en-US" altLang="en-US" dirty="0" err="1"/>
              <a:t>su</a:t>
            </a:r>
            <a:r>
              <a:rPr lang="en-US" altLang="en-US" dirty="0"/>
              <a:t> STM32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E2189C5-9F9E-6510-4BEF-AEAFF9EC4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694114"/>
            <a:ext cx="9131300" cy="4655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071B5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71B50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dirty="0"/>
              <a:t>Progetto </a:t>
            </a:r>
            <a:r>
              <a:rPr lang="en-US" altLang="en-US" sz="2000" dirty="0" err="1"/>
              <a:t>sviluppato</a:t>
            </a:r>
            <a:r>
              <a:rPr lang="en-US" altLang="en-US" sz="2000" dirty="0"/>
              <a:t> per il </a:t>
            </a:r>
            <a:r>
              <a:rPr lang="en-US" altLang="en-US" sz="2000" dirty="0" err="1"/>
              <a:t>corso</a:t>
            </a:r>
            <a:r>
              <a:rPr lang="en-US" altLang="en-US" sz="2000" dirty="0"/>
              <a:t> di:</a:t>
            </a:r>
          </a:p>
          <a:p>
            <a:r>
              <a:rPr lang="en-US" altLang="en-US" sz="2000" dirty="0"/>
              <a:t>	</a:t>
            </a:r>
            <a:r>
              <a:rPr lang="en-US" altLang="en-US" sz="2000" dirty="0" err="1"/>
              <a:t>Progettazione</a:t>
            </a:r>
            <a:r>
              <a:rPr lang="en-US" altLang="en-US" sz="2000" dirty="0"/>
              <a:t> di </a:t>
            </a:r>
            <a:r>
              <a:rPr lang="en-US" altLang="en-US" sz="2000" dirty="0" err="1"/>
              <a:t>Sistemi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Operativi</a:t>
            </a:r>
            <a:r>
              <a:rPr lang="en-US" altLang="en-US" sz="2000" dirty="0"/>
              <a:t> (PROS) </a:t>
            </a:r>
          </a:p>
          <a:p>
            <a:r>
              <a:rPr lang="en-US" altLang="en-US" sz="2000" dirty="0"/>
              <a:t>	Progetto di </a:t>
            </a:r>
            <a:r>
              <a:rPr lang="en-US" altLang="en-US" sz="2000" dirty="0" err="1"/>
              <a:t>Sistemi</a:t>
            </a:r>
            <a:r>
              <a:rPr lang="en-US" altLang="en-US" sz="2000" dirty="0"/>
              <a:t> a </a:t>
            </a:r>
            <a:r>
              <a:rPr lang="en-US" altLang="en-US" sz="2000" dirty="0" err="1"/>
              <a:t>Sensore</a:t>
            </a:r>
            <a:r>
              <a:rPr lang="en-US" altLang="en-US" sz="2000" dirty="0"/>
              <a:t> (PSS)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 err="1"/>
              <a:t>Docenti</a:t>
            </a:r>
            <a:r>
              <a:rPr lang="en-US" altLang="en-US" sz="2000" dirty="0"/>
              <a:t>: </a:t>
            </a:r>
          </a:p>
          <a:p>
            <a:r>
              <a:rPr lang="en-US" altLang="en-US" sz="2000" dirty="0"/>
              <a:t>	</a:t>
            </a:r>
            <a:r>
              <a:rPr lang="en-US" altLang="en-US" sz="2000" dirty="0" err="1"/>
              <a:t>Bruschi</a:t>
            </a:r>
            <a:r>
              <a:rPr lang="en-US" altLang="en-US" sz="2000" dirty="0"/>
              <a:t> Danilo Mauro</a:t>
            </a:r>
          </a:p>
          <a:p>
            <a:r>
              <a:rPr lang="en-US" altLang="en-US" sz="2000" dirty="0"/>
              <a:t>	</a:t>
            </a:r>
            <a:r>
              <a:rPr lang="en-US" altLang="en-US" sz="2000" dirty="0" err="1"/>
              <a:t>Pedersini</a:t>
            </a:r>
            <a:r>
              <a:rPr lang="en-US" altLang="en-US" sz="2000" dirty="0"/>
              <a:t> Federico</a:t>
            </a:r>
          </a:p>
          <a:p>
            <a:endParaRPr lang="en-US" altLang="en-US" sz="2000" dirty="0"/>
          </a:p>
          <a:p>
            <a:r>
              <a:rPr lang="en-US" altLang="en-US" sz="2000" dirty="0"/>
              <a:t>						</a:t>
            </a:r>
            <a:r>
              <a:rPr lang="en-US" altLang="en-US" sz="2000" dirty="0" err="1"/>
              <a:t>Proposta</a:t>
            </a:r>
            <a:r>
              <a:rPr lang="en-US" altLang="en-US" sz="2000" dirty="0"/>
              <a:t> di: </a:t>
            </a:r>
          </a:p>
          <a:p>
            <a:r>
              <a:rPr lang="en-US" altLang="en-US" sz="2000" dirty="0"/>
              <a:t>						Bianchi Davide (12820A)</a:t>
            </a:r>
          </a:p>
          <a:p>
            <a:endParaRPr lang="en-US" altLang="en-US" sz="2000" dirty="0"/>
          </a:p>
          <a:p>
            <a:r>
              <a:rPr lang="en-US" altLang="en-US" sz="2000" dirty="0"/>
              <a:t>			Anno </a:t>
            </a:r>
            <a:r>
              <a:rPr lang="en-US" altLang="en-US" sz="2000" dirty="0" err="1"/>
              <a:t>Accademico</a:t>
            </a:r>
            <a:r>
              <a:rPr lang="en-US" altLang="en-US" sz="2000" dirty="0"/>
              <a:t>: 2023-2024</a:t>
            </a:r>
          </a:p>
          <a:p>
            <a:endParaRPr lang="en-US" altLang="en-US" sz="2000" dirty="0"/>
          </a:p>
          <a:p>
            <a:pPr algn="ctr"/>
            <a:endParaRPr lang="en-US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/>
              <a:t>INFORMATICA LM-18.</a:t>
            </a:r>
            <a:br>
              <a:rPr lang="it-IT" altLang="en-US"/>
            </a:br>
            <a:r>
              <a:rPr lang="it-IT" altLang="en-US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Indice</a:t>
            </a:r>
            <a:endParaRPr lang="en-US" altLang="en-US" dirty="0"/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B21EA775-793C-4736-BF20-BE3C5A9DA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124744"/>
            <a:ext cx="8077200" cy="5544616"/>
          </a:xfrm>
        </p:spPr>
        <p:txBody>
          <a:bodyPr/>
          <a:lstStyle/>
          <a:p>
            <a:r>
              <a:rPr lang="it-IT" dirty="0"/>
              <a:t>Introduzione</a:t>
            </a:r>
          </a:p>
          <a:p>
            <a:r>
              <a:rPr lang="it-IT" dirty="0"/>
              <a:t>Obiettivi</a:t>
            </a:r>
          </a:p>
          <a:p>
            <a:r>
              <a:rPr lang="it-IT" dirty="0"/>
              <a:t>Protocolli</a:t>
            </a:r>
          </a:p>
          <a:p>
            <a:r>
              <a:rPr lang="it-IT" dirty="0"/>
              <a:t>Struttura del sintetizzatore (</a:t>
            </a:r>
            <a:r>
              <a:rPr lang="it-IT" dirty="0" err="1"/>
              <a:t>Hw</a:t>
            </a:r>
            <a:r>
              <a:rPr lang="it-IT" dirty="0"/>
              <a:t>/</a:t>
            </a:r>
            <a:r>
              <a:rPr lang="it-IT" dirty="0" err="1"/>
              <a:t>Sw</a:t>
            </a:r>
            <a:r>
              <a:rPr lang="it-IT" dirty="0"/>
              <a:t>) </a:t>
            </a:r>
          </a:p>
          <a:p>
            <a:r>
              <a:rPr lang="it-IT" dirty="0"/>
              <a:t>Componenti Software: </a:t>
            </a:r>
          </a:p>
          <a:p>
            <a:pPr lvl="1"/>
            <a:r>
              <a:rPr lang="it-IT" dirty="0"/>
              <a:t>Gestione degli input Digitali/Analogici</a:t>
            </a:r>
          </a:p>
          <a:p>
            <a:pPr lvl="1"/>
            <a:r>
              <a:rPr lang="it-IT" dirty="0"/>
              <a:t>Gestione della tastiera MIDI over USB</a:t>
            </a:r>
          </a:p>
          <a:p>
            <a:pPr lvl="1"/>
            <a:r>
              <a:rPr lang="it-IT" dirty="0"/>
              <a:t>Gestione del DAC </a:t>
            </a:r>
          </a:p>
          <a:p>
            <a:r>
              <a:rPr lang="it-IT" dirty="0"/>
              <a:t>Analisi dei tempi di esecuzione</a:t>
            </a:r>
          </a:p>
          <a:p>
            <a:r>
              <a:rPr lang="it-IT" dirty="0"/>
              <a:t>Analisi della potenza dissipata</a:t>
            </a:r>
          </a:p>
          <a:p>
            <a:r>
              <a:rPr lang="it-IT" dirty="0"/>
              <a:t>Utilità del progetto</a:t>
            </a:r>
          </a:p>
          <a:p>
            <a:r>
              <a:rPr lang="it-IT" dirty="0"/>
              <a:t>Conclusione e sviluppi futuri</a:t>
            </a:r>
          </a:p>
          <a:p>
            <a:endParaRPr lang="it-IT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20451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/>
              <a:t>INFORMATICA LM-18.</a:t>
            </a:r>
            <a:br>
              <a:rPr lang="it-IT" altLang="en-US" dirty="0"/>
            </a:br>
            <a:r>
              <a:rPr lang="it-IT" altLang="en-US" dirty="0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Introduzione</a:t>
            </a:r>
            <a:r>
              <a:rPr lang="en-US" altLang="en-US" dirty="0"/>
              <a:t>: </a:t>
            </a:r>
            <a:r>
              <a:rPr lang="en-US" altLang="en-US" dirty="0" err="1"/>
              <a:t>MiniMOOG</a:t>
            </a:r>
            <a:endParaRPr lang="en-US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Il </a:t>
            </a:r>
            <a:r>
              <a:rPr lang="en-US" altLang="en-US" dirty="0" err="1"/>
              <a:t>MiniMOOG</a:t>
            </a:r>
            <a:r>
              <a:rPr lang="en-US" altLang="en-US" dirty="0"/>
              <a:t> è un </a:t>
            </a:r>
            <a:r>
              <a:rPr lang="en-US" altLang="en-US" dirty="0" err="1"/>
              <a:t>sintetizzatore</a:t>
            </a:r>
            <a:r>
              <a:rPr lang="en-US" altLang="en-US" dirty="0"/>
              <a:t> audio </a:t>
            </a:r>
            <a:r>
              <a:rPr lang="en-US" altLang="en-US" dirty="0" err="1"/>
              <a:t>analogico</a:t>
            </a:r>
            <a:r>
              <a:rPr lang="en-US" altLang="en-US" dirty="0"/>
              <a:t> e </a:t>
            </a:r>
            <a:r>
              <a:rPr lang="en-US" altLang="en-US" dirty="0" err="1"/>
              <a:t>monofonico</a:t>
            </a:r>
            <a:r>
              <a:rPr lang="en-US" altLang="en-US" dirty="0"/>
              <a:t> in </a:t>
            </a:r>
            <a:r>
              <a:rPr lang="en-US" altLang="en-US" dirty="0" err="1"/>
              <a:t>grado</a:t>
            </a:r>
            <a:r>
              <a:rPr lang="en-US" altLang="en-US" dirty="0"/>
              <a:t> di </a:t>
            </a:r>
            <a:r>
              <a:rPr lang="en-US" altLang="en-US" dirty="0" err="1"/>
              <a:t>generare</a:t>
            </a:r>
            <a:r>
              <a:rPr lang="en-US" altLang="en-US" dirty="0"/>
              <a:t> </a:t>
            </a:r>
            <a:r>
              <a:rPr lang="en-US" altLang="en-US" dirty="0" err="1"/>
              <a:t>suoni</a:t>
            </a:r>
            <a:r>
              <a:rPr lang="en-US" altLang="en-US" dirty="0"/>
              <a:t> </a:t>
            </a:r>
          </a:p>
          <a:p>
            <a:r>
              <a:rPr lang="en-US" altLang="en-US" dirty="0" err="1"/>
              <a:t>Venne</a:t>
            </a:r>
            <a:r>
              <a:rPr lang="en-US" altLang="en-US" dirty="0"/>
              <a:t> </a:t>
            </a:r>
            <a:r>
              <a:rPr lang="en-US" altLang="en-US" dirty="0" err="1"/>
              <a:t>creato</a:t>
            </a:r>
            <a:r>
              <a:rPr lang="en-US" altLang="en-US" dirty="0"/>
              <a:t> </a:t>
            </a:r>
            <a:r>
              <a:rPr lang="en-US" altLang="en-US" dirty="0" err="1"/>
              <a:t>negli</a:t>
            </a:r>
            <a:r>
              <a:rPr lang="en-US" altLang="en-US" dirty="0"/>
              <a:t> anni ‘70 </a:t>
            </a:r>
            <a:r>
              <a:rPr lang="en-US" altLang="en-US" dirty="0" err="1"/>
              <a:t>dalla</a:t>
            </a:r>
            <a:r>
              <a:rPr lang="en-US" altLang="en-US" dirty="0"/>
              <a:t> </a:t>
            </a:r>
            <a:r>
              <a:rPr lang="en-US" altLang="en-US" dirty="0" err="1"/>
              <a:t>compagnia</a:t>
            </a:r>
            <a:r>
              <a:rPr lang="en-US" altLang="en-US" dirty="0"/>
              <a:t> musicale Moog Music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5" name="Immagine 4" descr="Immagine che contiene musica, piano, Strumento musicale, tastiera&#10;&#10;Descrizione generata automaticamente">
            <a:extLst>
              <a:ext uri="{FF2B5EF4-FFF2-40B4-BE49-F238E27FC236}">
                <a16:creationId xmlns:a16="http://schemas.microsoft.com/office/drawing/2014/main" id="{10C6DD0A-71C2-DDFA-6E14-8B18089EE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48" y="3068960"/>
            <a:ext cx="6336704" cy="36594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/>
              <a:t>INFORMATICA LM-18.</a:t>
            </a:r>
            <a:br>
              <a:rPr lang="it-IT" altLang="en-US"/>
            </a:br>
            <a:r>
              <a:rPr lang="it-IT" altLang="en-US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Obiettivi</a:t>
            </a:r>
            <a:endParaRPr lang="en-US" altLang="en-US" dirty="0"/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B21EA775-793C-4736-BF20-BE3C5A9DA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339850"/>
            <a:ext cx="8077200" cy="2953246"/>
          </a:xfrm>
        </p:spPr>
        <p:txBody>
          <a:bodyPr/>
          <a:lstStyle/>
          <a:p>
            <a:r>
              <a:rPr lang="it-IT" dirty="0"/>
              <a:t>Creare un prototipo digitale del synth che rispecchi le caratteristiche sonore principali: </a:t>
            </a:r>
          </a:p>
          <a:p>
            <a:pPr lvl="1"/>
            <a:r>
              <a:rPr lang="it-IT" dirty="0"/>
              <a:t>Sviluppo e implementazione di algoritmi DSP audio</a:t>
            </a:r>
          </a:p>
          <a:p>
            <a:pPr lvl="1"/>
            <a:r>
              <a:rPr lang="it-IT" dirty="0"/>
              <a:t>Gestione di input digitali e analogici</a:t>
            </a:r>
          </a:p>
          <a:p>
            <a:pPr lvl="1"/>
            <a:r>
              <a:rPr lang="it-IT" dirty="0"/>
              <a:t>Gestione del DAC presente sulla board (I2C e I2S)</a:t>
            </a:r>
          </a:p>
          <a:p>
            <a:pPr lvl="1"/>
            <a:r>
              <a:rPr lang="it-IT" dirty="0"/>
              <a:t>Sviluppo del protocollo USB-MIDI</a:t>
            </a:r>
          </a:p>
          <a:p>
            <a:pPr lvl="1"/>
            <a:r>
              <a:rPr lang="it-IT" dirty="0"/>
              <a:t>Montaggio del circuito su breadboard</a:t>
            </a:r>
          </a:p>
          <a:p>
            <a:pPr marL="457200" lvl="1" indent="0">
              <a:buNone/>
            </a:pPr>
            <a:endParaRPr lang="it-IT" dirty="0"/>
          </a:p>
          <a:p>
            <a:pPr marL="457200" lvl="1" indent="0">
              <a:buNone/>
            </a:pPr>
            <a:endParaRPr lang="it-IT" dirty="0"/>
          </a:p>
          <a:p>
            <a:pPr marL="457200" lvl="1" indent="0">
              <a:buNone/>
            </a:pPr>
            <a:endParaRPr lang="it-IT" dirty="0"/>
          </a:p>
          <a:p>
            <a:pPr marL="457200" lvl="1" indent="0">
              <a:buNone/>
            </a:pPr>
            <a:endParaRPr lang="it-IT" dirty="0"/>
          </a:p>
        </p:txBody>
      </p:sp>
      <p:sp>
        <p:nvSpPr>
          <p:cNvPr id="6" name="Segnaposto contenuto 1">
            <a:extLst>
              <a:ext uri="{FF2B5EF4-FFF2-40B4-BE49-F238E27FC236}">
                <a16:creationId xmlns:a16="http://schemas.microsoft.com/office/drawing/2014/main" id="{6BC3B0C4-E639-D8D7-7EEF-58CE1B043C76}"/>
              </a:ext>
            </a:extLst>
          </p:cNvPr>
          <p:cNvSpPr txBox="1">
            <a:spLocks/>
          </p:cNvSpPr>
          <p:nvPr/>
        </p:nvSpPr>
        <p:spPr bwMode="auto">
          <a:xfrm>
            <a:off x="723900" y="4112617"/>
            <a:ext cx="8077200" cy="1405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it-IT" dirty="0"/>
              <a:t>Lo strumento deve essere real-time scrivendo algoritmi ottimizzati in termini di tempo e memoria</a:t>
            </a:r>
          </a:p>
          <a:p>
            <a:pPr marL="457200" lvl="1" indent="0" eaLnBrk="1" hangingPunct="1">
              <a:buFontTx/>
              <a:buNone/>
            </a:pPr>
            <a:endParaRPr lang="it-IT" dirty="0"/>
          </a:p>
          <a:p>
            <a:pPr marL="457200" lvl="1" indent="0" eaLnBrk="1" hangingPunct="1">
              <a:buFontTx/>
              <a:buNone/>
            </a:pPr>
            <a:endParaRPr lang="it-IT" dirty="0"/>
          </a:p>
          <a:p>
            <a:pPr marL="457200" lvl="1" indent="0" eaLnBrk="1" hangingPunct="1">
              <a:buFontTx/>
              <a:buNone/>
            </a:pPr>
            <a:endParaRPr lang="it-IT" dirty="0"/>
          </a:p>
          <a:p>
            <a:pPr marL="457200" lvl="1" indent="0" eaLnBrk="1" hangingPunct="1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60482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/>
              <a:t>INFORMATICA LM-18.</a:t>
            </a:r>
            <a:br>
              <a:rPr lang="it-IT" altLang="en-US"/>
            </a:br>
            <a:r>
              <a:rPr lang="it-IT" altLang="en-US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Protocolli</a:t>
            </a:r>
            <a:endParaRPr lang="en-US" altLang="en-US" dirty="0"/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B21EA775-793C-4736-BF20-BE3C5A9DA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114" y="1196752"/>
            <a:ext cx="8077200" cy="5257502"/>
          </a:xfrm>
        </p:spPr>
        <p:txBody>
          <a:bodyPr/>
          <a:lstStyle/>
          <a:p>
            <a:r>
              <a:rPr lang="it-IT" dirty="0"/>
              <a:t>USB: standard di comunicazione seriale per connettere tra loro vari dispositivi. Viene usato per la connessione tra micro e tastiera.</a:t>
            </a:r>
          </a:p>
          <a:p>
            <a:r>
              <a:rPr lang="it-IT" dirty="0"/>
              <a:t>MIDI: standard di comunicazione tra strumenti musicali elettronici. Viene usato per lo scambio dei dati con la tastiera.</a:t>
            </a:r>
          </a:p>
          <a:p>
            <a:r>
              <a:rPr lang="it-IT" dirty="0"/>
              <a:t>I2C: standard di comunicazione seriale per consentire la comunicazione tra microcontrollori e sensori, convertitori, dispositivi di memoria … Viene usato per configurare il DAC.</a:t>
            </a:r>
          </a:p>
          <a:p>
            <a:r>
              <a:rPr lang="it-IT" dirty="0"/>
              <a:t>I2S: protocollo di comunicazione seriale usato per trasferire dati audio digitali tra componenti elettronici come microcontrollori e convertitori. Usato per inviare dati audio al DAC.</a:t>
            </a:r>
          </a:p>
        </p:txBody>
      </p:sp>
    </p:spTree>
    <p:extLst>
      <p:ext uri="{BB962C8B-B14F-4D97-AF65-F5344CB8AC3E}">
        <p14:creationId xmlns:p14="http://schemas.microsoft.com/office/powerpoint/2010/main" val="3950330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/>
              <a:t>INFORMATICA LM-18.</a:t>
            </a:r>
            <a:br>
              <a:rPr lang="it-IT" altLang="en-US" dirty="0"/>
            </a:br>
            <a:r>
              <a:rPr lang="it-IT" altLang="en-US" dirty="0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Struttura</a:t>
            </a:r>
            <a:r>
              <a:rPr lang="en-US" altLang="en-US" dirty="0"/>
              <a:t> del </a:t>
            </a:r>
            <a:r>
              <a:rPr lang="en-US" altLang="en-US" dirty="0" err="1"/>
              <a:t>Sintetizzatore</a:t>
            </a:r>
            <a:r>
              <a:rPr lang="en-US" altLang="en-US" dirty="0"/>
              <a:t> (1)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6D4A1C23-FFEF-88DA-6BF7-7044EA60E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424" y="1399794"/>
            <a:ext cx="4429260" cy="1045362"/>
          </a:xfrm>
          <a:prstGeom prst="rect">
            <a:avLst/>
          </a:prstGeom>
        </p:spPr>
      </p:pic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472DC0BC-25D8-84DC-5F3E-504D965DC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Sezioni principali:</a:t>
            </a:r>
          </a:p>
          <a:p>
            <a:pPr lvl="1"/>
            <a:r>
              <a:rPr lang="it-IT" dirty="0"/>
              <a:t>Oscillatori</a:t>
            </a:r>
          </a:p>
          <a:p>
            <a:pPr lvl="1"/>
            <a:r>
              <a:rPr lang="it-IT" dirty="0"/>
              <a:t>Mixer</a:t>
            </a:r>
          </a:p>
          <a:p>
            <a:pPr lvl="1"/>
            <a:r>
              <a:rPr lang="it-IT" dirty="0"/>
              <a:t>Filtro</a:t>
            </a:r>
          </a:p>
          <a:p>
            <a:pPr lvl="1"/>
            <a:r>
              <a:rPr lang="it-IT" dirty="0"/>
              <a:t>Volume e ADSR</a:t>
            </a:r>
          </a:p>
          <a:p>
            <a:pPr lvl="1"/>
            <a:r>
              <a:rPr lang="it-IT" dirty="0"/>
              <a:t>Modulazioni (tremolo/vibrato)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4DD19169-5517-5A70-DC9B-B2F7431A9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861048"/>
            <a:ext cx="7772400" cy="244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6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/>
              <a:t>INFORMATICA LM-18.</a:t>
            </a:r>
            <a:br>
              <a:rPr lang="it-IT" altLang="en-US" dirty="0"/>
            </a:br>
            <a:r>
              <a:rPr lang="it-IT" altLang="en-US" dirty="0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Struttura</a:t>
            </a:r>
            <a:r>
              <a:rPr lang="en-US" altLang="en-US" dirty="0"/>
              <a:t> del </a:t>
            </a:r>
            <a:r>
              <a:rPr lang="en-US" altLang="en-US" dirty="0" err="1"/>
              <a:t>Sintetizzatore</a:t>
            </a:r>
            <a:r>
              <a:rPr lang="en-US" altLang="en-US" dirty="0"/>
              <a:t> (2)</a:t>
            </a:r>
          </a:p>
        </p:txBody>
      </p:sp>
      <p:pic>
        <p:nvPicPr>
          <p:cNvPr id="5" name="Immagine 4" descr="Immagine che contiene diagramma, testo, linea, Piano&#10;&#10;Descrizione generata automaticamente">
            <a:extLst>
              <a:ext uri="{FF2B5EF4-FFF2-40B4-BE49-F238E27FC236}">
                <a16:creationId xmlns:a16="http://schemas.microsoft.com/office/drawing/2014/main" id="{96B5E78E-7CDC-D063-C667-5340322AB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2" y="1196752"/>
            <a:ext cx="8081369" cy="2624408"/>
          </a:xfrm>
          <a:prstGeom prst="rect">
            <a:avLst/>
          </a:prstGeom>
        </p:spPr>
      </p:pic>
      <p:sp>
        <p:nvSpPr>
          <p:cNvPr id="6" name="Segnaposto contenuto 9">
            <a:extLst>
              <a:ext uri="{FF2B5EF4-FFF2-40B4-BE49-F238E27FC236}">
                <a16:creationId xmlns:a16="http://schemas.microsoft.com/office/drawing/2014/main" id="{7CD2E780-DC6F-8ADA-1CD5-C44CC10FD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762" y="4005064"/>
            <a:ext cx="8077200" cy="2377182"/>
          </a:xfrm>
        </p:spPr>
        <p:txBody>
          <a:bodyPr/>
          <a:lstStyle/>
          <a:p>
            <a:r>
              <a:rPr lang="it-IT" dirty="0"/>
              <a:t>Componenti Hardware:</a:t>
            </a:r>
          </a:p>
          <a:p>
            <a:pPr lvl="1"/>
            <a:r>
              <a:rPr lang="it-IT" dirty="0"/>
              <a:t>Scheda STM32F407: USB OTG, DAC, Jack 3.5mm</a:t>
            </a:r>
          </a:p>
          <a:p>
            <a:pPr lvl="1"/>
            <a:r>
              <a:rPr lang="it-IT" dirty="0"/>
              <a:t>Per il pannello di controllo: 7 switch on/off, 2 switch multipli, 11 potenziometri</a:t>
            </a:r>
          </a:p>
          <a:p>
            <a:pPr lvl="1"/>
            <a:r>
              <a:rPr lang="it-IT" dirty="0"/>
              <a:t>Per il collaudo: 3 breadboard, cavetti maschio-femmina, adattatore USB, adattatore jack,  </a:t>
            </a:r>
          </a:p>
        </p:txBody>
      </p:sp>
    </p:spTree>
    <p:extLst>
      <p:ext uri="{BB962C8B-B14F-4D97-AF65-F5344CB8AC3E}">
        <p14:creationId xmlns:p14="http://schemas.microsoft.com/office/powerpoint/2010/main" val="3446014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/>
              <a:t>INFORMATICA LM-18.</a:t>
            </a:r>
            <a:br>
              <a:rPr lang="it-IT" altLang="en-US" dirty="0"/>
            </a:br>
            <a:r>
              <a:rPr lang="it-IT" altLang="en-US" dirty="0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Struttura</a:t>
            </a:r>
            <a:r>
              <a:rPr lang="en-US" altLang="en-US" dirty="0"/>
              <a:t> del </a:t>
            </a:r>
            <a:r>
              <a:rPr lang="en-US" altLang="en-US" dirty="0" err="1"/>
              <a:t>Sintetizzatore</a:t>
            </a:r>
            <a:r>
              <a:rPr lang="en-US" altLang="en-US" dirty="0"/>
              <a:t> (3)</a:t>
            </a:r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05631FF9-D091-6496-DDB2-91B14B88E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339850"/>
            <a:ext cx="8077200" cy="3169270"/>
          </a:xfrm>
        </p:spPr>
        <p:txBody>
          <a:bodyPr/>
          <a:lstStyle/>
          <a:p>
            <a:r>
              <a:rPr lang="it-IT" dirty="0"/>
              <a:t>A livello software, l’intero progetto si compone dello sviluppo di 5 </a:t>
            </a:r>
            <a:r>
              <a:rPr lang="it-IT" dirty="0" err="1"/>
              <a:t>macroblocchi</a:t>
            </a:r>
            <a:r>
              <a:rPr lang="it-IT" dirty="0"/>
              <a:t>: </a:t>
            </a:r>
          </a:p>
          <a:p>
            <a:pPr lvl="1"/>
            <a:r>
              <a:rPr lang="it-IT" dirty="0"/>
              <a:t>Gestione degli input digitali</a:t>
            </a:r>
          </a:p>
          <a:p>
            <a:pPr lvl="1"/>
            <a:r>
              <a:rPr lang="it-IT" dirty="0"/>
              <a:t>Gestione degli input analogici</a:t>
            </a:r>
          </a:p>
          <a:p>
            <a:pPr lvl="1"/>
            <a:r>
              <a:rPr lang="it-IT" dirty="0"/>
              <a:t>Gestione dell’input USB_MIDI</a:t>
            </a:r>
          </a:p>
          <a:p>
            <a:pPr lvl="1"/>
            <a:r>
              <a:rPr lang="it-IT" dirty="0"/>
              <a:t>Gestione dell’output audio e del convertitore digitale-analogico</a:t>
            </a:r>
          </a:p>
          <a:p>
            <a:pPr lvl="1"/>
            <a:r>
              <a:rPr lang="it-IT" dirty="0"/>
              <a:t>Gestione degli algoritmi di generazione del suono</a:t>
            </a:r>
          </a:p>
        </p:txBody>
      </p:sp>
      <p:sp>
        <p:nvSpPr>
          <p:cNvPr id="3" name="Segnaposto contenuto 1">
            <a:extLst>
              <a:ext uri="{FF2B5EF4-FFF2-40B4-BE49-F238E27FC236}">
                <a16:creationId xmlns:a16="http://schemas.microsoft.com/office/drawing/2014/main" id="{7656DB30-B1E7-9011-4B06-E18871503F4C}"/>
              </a:ext>
            </a:extLst>
          </p:cNvPr>
          <p:cNvSpPr txBox="1">
            <a:spLocks/>
          </p:cNvSpPr>
          <p:nvPr/>
        </p:nvSpPr>
        <p:spPr bwMode="auto">
          <a:xfrm>
            <a:off x="774700" y="4401567"/>
            <a:ext cx="8077200" cy="1116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it-IT" dirty="0"/>
              <a:t>Ognuno di essi viene gestito da una determinata parte del programma con una priorità più o meno alta </a:t>
            </a:r>
          </a:p>
        </p:txBody>
      </p:sp>
    </p:spTree>
    <p:extLst>
      <p:ext uri="{BB962C8B-B14F-4D97-AF65-F5344CB8AC3E}">
        <p14:creationId xmlns:p14="http://schemas.microsoft.com/office/powerpoint/2010/main" val="3870006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/>
              <a:t>INFORMATICA LM-18.</a:t>
            </a:r>
            <a:br>
              <a:rPr lang="it-IT" altLang="en-US" dirty="0"/>
            </a:br>
            <a:r>
              <a:rPr lang="it-IT" altLang="en-US" dirty="0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Struttura</a:t>
            </a:r>
            <a:r>
              <a:rPr lang="en-US" altLang="en-US" dirty="0"/>
              <a:t> del </a:t>
            </a:r>
            <a:r>
              <a:rPr lang="en-US" altLang="en-US" dirty="0" err="1"/>
              <a:t>Sintetizzatore</a:t>
            </a:r>
            <a:r>
              <a:rPr lang="en-US" altLang="en-US" dirty="0"/>
              <a:t> (4)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F78F7D94-0AD2-C45B-70CF-73EF15A0B5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" r="1"/>
          <a:stretch/>
        </p:blipFill>
        <p:spPr>
          <a:xfrm>
            <a:off x="1202724" y="1052736"/>
            <a:ext cx="7636476" cy="51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79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/>
              <a:t>INFORMATICA LM-18.</a:t>
            </a:r>
            <a:br>
              <a:rPr lang="it-IT" altLang="en-US" dirty="0"/>
            </a:br>
            <a:r>
              <a:rPr lang="it-IT" altLang="en-US" dirty="0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SW: </a:t>
            </a:r>
            <a:r>
              <a:rPr lang="en-US" altLang="en-US" dirty="0" err="1"/>
              <a:t>Gestione</a:t>
            </a:r>
            <a:r>
              <a:rPr lang="en-US" altLang="en-US" dirty="0"/>
              <a:t> </a:t>
            </a:r>
            <a:r>
              <a:rPr lang="en-US" altLang="en-US" dirty="0" err="1"/>
              <a:t>degli</a:t>
            </a:r>
            <a:r>
              <a:rPr lang="en-US" altLang="en-US" dirty="0"/>
              <a:t> input </a:t>
            </a:r>
            <a:r>
              <a:rPr lang="en-US" altLang="en-US" dirty="0" err="1"/>
              <a:t>digitali</a:t>
            </a:r>
            <a:endParaRPr lang="en-US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3383" y="1280039"/>
            <a:ext cx="4107463" cy="3188983"/>
          </a:xfrm>
        </p:spPr>
        <p:txBody>
          <a:bodyPr/>
          <a:lstStyle/>
          <a:p>
            <a:r>
              <a:rPr lang="en-US" altLang="en-US" dirty="0"/>
              <a:t>I GPIO </a:t>
            </a:r>
            <a:r>
              <a:rPr lang="en-US" altLang="en-US" dirty="0" err="1"/>
              <a:t>sono</a:t>
            </a:r>
            <a:r>
              <a:rPr lang="en-US" altLang="en-US" dirty="0"/>
              <a:t> </a:t>
            </a:r>
            <a:r>
              <a:rPr lang="en-US" altLang="en-US" dirty="0" err="1"/>
              <a:t>collegati</a:t>
            </a:r>
            <a:r>
              <a:rPr lang="en-US" altLang="en-US" dirty="0"/>
              <a:t> a </a:t>
            </a:r>
            <a:r>
              <a:rPr lang="en-US" altLang="en-US" dirty="0" err="1"/>
              <a:t>degli</a:t>
            </a:r>
            <a:r>
              <a:rPr lang="en-US" altLang="en-US" dirty="0"/>
              <a:t> </a:t>
            </a:r>
            <a:r>
              <a:rPr lang="en-US" altLang="en-US" dirty="0" err="1"/>
              <a:t>interruttori</a:t>
            </a:r>
            <a:r>
              <a:rPr lang="en-US" altLang="en-US" dirty="0"/>
              <a:t> </a:t>
            </a:r>
            <a:r>
              <a:rPr lang="en-US" altLang="en-US" dirty="0" err="1"/>
              <a:t>che</a:t>
            </a:r>
            <a:r>
              <a:rPr lang="en-US" altLang="en-US" dirty="0"/>
              <a:t> </a:t>
            </a:r>
            <a:r>
              <a:rPr lang="en-US" altLang="en-US" dirty="0" err="1"/>
              <a:t>abilitano</a:t>
            </a:r>
            <a:r>
              <a:rPr lang="en-US" altLang="en-US" dirty="0"/>
              <a:t>/</a:t>
            </a:r>
            <a:r>
              <a:rPr lang="en-US" altLang="en-US" dirty="0" err="1"/>
              <a:t>disabilitano</a:t>
            </a:r>
            <a:r>
              <a:rPr lang="en-US" altLang="en-US" dirty="0"/>
              <a:t> </a:t>
            </a:r>
            <a:r>
              <a:rPr lang="en-US" altLang="en-US" dirty="0" err="1"/>
              <a:t>i</a:t>
            </a:r>
            <a:r>
              <a:rPr lang="en-US" altLang="en-US" dirty="0"/>
              <a:t>  moduli del synth</a:t>
            </a:r>
          </a:p>
          <a:p>
            <a:r>
              <a:rPr lang="en-US" altLang="en-US" dirty="0" err="1"/>
              <a:t>Gestione</a:t>
            </a:r>
            <a:r>
              <a:rPr lang="en-US" altLang="en-US" dirty="0"/>
              <a:t> </a:t>
            </a:r>
            <a:r>
              <a:rPr lang="en-US" altLang="en-US" dirty="0" err="1"/>
              <a:t>tramite</a:t>
            </a:r>
            <a:r>
              <a:rPr lang="en-US" altLang="en-US" dirty="0"/>
              <a:t> interrupt</a:t>
            </a:r>
          </a:p>
          <a:p>
            <a:r>
              <a:rPr lang="en-US" altLang="en-US" dirty="0" err="1"/>
              <a:t>Risposta</a:t>
            </a:r>
            <a:r>
              <a:rPr lang="en-US" altLang="en-US" dirty="0"/>
              <a:t> </a:t>
            </a:r>
            <a:r>
              <a:rPr lang="en-US" altLang="en-US" dirty="0" err="1"/>
              <a:t>sia</a:t>
            </a:r>
            <a:r>
              <a:rPr lang="en-US" altLang="en-US" dirty="0"/>
              <a:t> </a:t>
            </a:r>
            <a:r>
              <a:rPr lang="en-US" altLang="en-US" dirty="0" err="1"/>
              <a:t>sul</a:t>
            </a:r>
            <a:r>
              <a:rPr lang="en-US" altLang="en-US" dirty="0"/>
              <a:t> </a:t>
            </a:r>
            <a:r>
              <a:rPr lang="en-US" altLang="en-US" dirty="0" err="1"/>
              <a:t>fronte</a:t>
            </a:r>
            <a:r>
              <a:rPr lang="en-US" altLang="en-US" dirty="0"/>
              <a:t> di </a:t>
            </a:r>
            <a:r>
              <a:rPr lang="en-US" altLang="en-US" dirty="0" err="1"/>
              <a:t>salita</a:t>
            </a:r>
            <a:r>
              <a:rPr lang="en-US" altLang="en-US" dirty="0"/>
              <a:t> e di </a:t>
            </a:r>
            <a:r>
              <a:rPr lang="en-US" altLang="en-US" dirty="0" err="1"/>
              <a:t>discesa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E8CCBB1-005C-F87A-28F3-E7C7031C3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37" y="1268760"/>
            <a:ext cx="4107463" cy="285997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8D2BABBB-0809-7E81-6858-4049C0DE0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872" y="4759325"/>
            <a:ext cx="6876256" cy="159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33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/>
              <a:t>INFORMATICA LM-18.</a:t>
            </a:r>
            <a:br>
              <a:rPr lang="it-IT" altLang="en-US" dirty="0"/>
            </a:br>
            <a:r>
              <a:rPr lang="it-IT" altLang="en-US" dirty="0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SW: </a:t>
            </a:r>
            <a:r>
              <a:rPr lang="en-US" altLang="en-US" dirty="0" err="1"/>
              <a:t>Gestione</a:t>
            </a:r>
            <a:r>
              <a:rPr lang="en-US" altLang="en-US" dirty="0"/>
              <a:t> </a:t>
            </a:r>
            <a:r>
              <a:rPr lang="en-US" altLang="en-US" dirty="0" err="1"/>
              <a:t>degli</a:t>
            </a:r>
            <a:r>
              <a:rPr lang="en-US" altLang="en-US" dirty="0"/>
              <a:t> input </a:t>
            </a:r>
            <a:r>
              <a:rPr lang="en-US" altLang="en-US" dirty="0" err="1"/>
              <a:t>analogici</a:t>
            </a:r>
            <a:endParaRPr lang="en-US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A41A337-23BF-9A06-83BC-2A991C19B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312" y="1061891"/>
            <a:ext cx="4352156" cy="28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dirty="0" err="1"/>
              <a:t>Utilizzo</a:t>
            </a:r>
            <a:r>
              <a:rPr lang="en-US" altLang="en-US" dirty="0"/>
              <a:t> di </a:t>
            </a:r>
            <a:r>
              <a:rPr lang="en-US" altLang="en-US" dirty="0" err="1"/>
              <a:t>convertitori</a:t>
            </a:r>
            <a:r>
              <a:rPr lang="en-US" altLang="en-US" dirty="0"/>
              <a:t> </a:t>
            </a:r>
            <a:r>
              <a:rPr lang="en-US" altLang="en-US" dirty="0" err="1"/>
              <a:t>analogico</a:t>
            </a:r>
            <a:r>
              <a:rPr lang="en-US" altLang="en-US" dirty="0"/>
              <a:t> </a:t>
            </a:r>
            <a:r>
              <a:rPr lang="en-US" altLang="en-US" dirty="0" err="1"/>
              <a:t>digitali</a:t>
            </a:r>
            <a:endParaRPr lang="en-US" altLang="en-US" dirty="0"/>
          </a:p>
          <a:p>
            <a:pPr eaLnBrk="1" hangingPunct="1"/>
            <a:r>
              <a:rPr lang="en-US" altLang="en-US" dirty="0"/>
              <a:t>I </a:t>
            </a:r>
            <a:r>
              <a:rPr lang="en-US" altLang="en-US" dirty="0" err="1"/>
              <a:t>vari</a:t>
            </a:r>
            <a:r>
              <a:rPr lang="en-US" altLang="en-US" dirty="0"/>
              <a:t> </a:t>
            </a:r>
            <a:r>
              <a:rPr lang="en-US" altLang="en-US" dirty="0" err="1"/>
              <a:t>canali</a:t>
            </a:r>
            <a:r>
              <a:rPr lang="en-US" altLang="en-US" dirty="0"/>
              <a:t> </a:t>
            </a:r>
            <a:r>
              <a:rPr lang="en-US" altLang="en-US" dirty="0" err="1"/>
              <a:t>dell’ADC</a:t>
            </a:r>
            <a:r>
              <a:rPr lang="en-US" altLang="en-US" dirty="0"/>
              <a:t> </a:t>
            </a:r>
            <a:r>
              <a:rPr lang="en-US" altLang="en-US" dirty="0" err="1"/>
              <a:t>sono</a:t>
            </a:r>
            <a:r>
              <a:rPr lang="en-US" altLang="en-US" dirty="0"/>
              <a:t> </a:t>
            </a:r>
            <a:r>
              <a:rPr lang="en-US" altLang="en-US" dirty="0" err="1"/>
              <a:t>collegati</a:t>
            </a:r>
            <a:r>
              <a:rPr lang="en-US" altLang="en-US" dirty="0"/>
              <a:t> ai </a:t>
            </a:r>
            <a:r>
              <a:rPr lang="en-US" altLang="en-US" dirty="0" err="1"/>
              <a:t>potenziometri</a:t>
            </a:r>
            <a:r>
              <a:rPr lang="en-US" altLang="en-US" dirty="0"/>
              <a:t> per </a:t>
            </a:r>
            <a:r>
              <a:rPr lang="en-US" altLang="en-US" dirty="0" err="1"/>
              <a:t>modificare</a:t>
            </a:r>
            <a:r>
              <a:rPr lang="en-US" altLang="en-US" dirty="0"/>
              <a:t> </a:t>
            </a:r>
            <a:r>
              <a:rPr lang="en-US" altLang="en-US" dirty="0" err="1"/>
              <a:t>i</a:t>
            </a:r>
            <a:r>
              <a:rPr lang="en-US" altLang="en-US" dirty="0"/>
              <a:t> </a:t>
            </a:r>
            <a:r>
              <a:rPr lang="en-US" altLang="en-US" dirty="0" err="1"/>
              <a:t>parametri</a:t>
            </a:r>
            <a:r>
              <a:rPr lang="en-US" altLang="en-US" dirty="0"/>
              <a:t> del synth</a:t>
            </a:r>
          </a:p>
          <a:p>
            <a:pPr eaLnBrk="1" hangingPunct="1"/>
            <a:r>
              <a:rPr lang="en-US" altLang="en-US" dirty="0" err="1"/>
              <a:t>Risoluzione</a:t>
            </a:r>
            <a:r>
              <a:rPr lang="en-US" altLang="en-US" dirty="0"/>
              <a:t> a 12 bit</a:t>
            </a:r>
          </a:p>
          <a:p>
            <a:pPr eaLnBrk="1" hangingPunct="1"/>
            <a:r>
              <a:rPr lang="en-US" altLang="en-US" dirty="0" err="1"/>
              <a:t>Modalità</a:t>
            </a:r>
            <a:r>
              <a:rPr lang="en-US" altLang="en-US" dirty="0"/>
              <a:t>: Scan Conversion Mode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5BF6C463-7BA8-4ABB-AA65-52B8EAD53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768" y="4869160"/>
            <a:ext cx="7726464" cy="136924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E9BE84EB-77FB-2289-FCC0-FC385518F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491" y="979385"/>
            <a:ext cx="3854709" cy="340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08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/>
              <a:t>INFORMATICA LM-18.</a:t>
            </a:r>
            <a:br>
              <a:rPr lang="it-IT" altLang="en-US" dirty="0"/>
            </a:br>
            <a:r>
              <a:rPr lang="it-IT" altLang="en-US" dirty="0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SW: </a:t>
            </a:r>
            <a:r>
              <a:rPr lang="en-US" altLang="en-US" dirty="0" err="1"/>
              <a:t>Gestione</a:t>
            </a:r>
            <a:r>
              <a:rPr lang="en-US" altLang="en-US" dirty="0"/>
              <a:t> </a:t>
            </a:r>
            <a:r>
              <a:rPr lang="en-US" altLang="en-US" dirty="0" err="1"/>
              <a:t>della</a:t>
            </a:r>
            <a:r>
              <a:rPr lang="en-US" altLang="en-US" dirty="0"/>
              <a:t> </a:t>
            </a:r>
            <a:r>
              <a:rPr lang="en-US" altLang="en-US" dirty="0" err="1"/>
              <a:t>tastiera</a:t>
            </a:r>
            <a:r>
              <a:rPr lang="en-US" altLang="en-US" dirty="0"/>
              <a:t> MIDI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C9AA4DE6-3169-564E-B1F5-CED690915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930" y="1864799"/>
            <a:ext cx="7724673" cy="641813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D1E5C0D5-A686-6933-5ED5-6E59C1DA7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3341239"/>
            <a:ext cx="7956376" cy="528404"/>
          </a:xfrm>
          <a:prstGeom prst="rect">
            <a:avLst/>
          </a:prstGeom>
        </p:spPr>
      </p:pic>
      <p:sp>
        <p:nvSpPr>
          <p:cNvPr id="19" name="Rectangle 3">
            <a:extLst>
              <a:ext uri="{FF2B5EF4-FFF2-40B4-BE49-F238E27FC236}">
                <a16:creationId xmlns:a16="http://schemas.microsoft.com/office/drawing/2014/main" id="{4C8B5D84-B205-C7D1-C85E-929AF527A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712" y="1214291"/>
            <a:ext cx="7956376" cy="541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dirty="0"/>
              <a:t>Fasi </a:t>
            </a:r>
            <a:r>
              <a:rPr lang="en-US" altLang="en-US" dirty="0" err="1"/>
              <a:t>preparatorie</a:t>
            </a:r>
            <a:r>
              <a:rPr lang="en-US" altLang="en-US" dirty="0"/>
              <a:t> del </a:t>
            </a:r>
            <a:r>
              <a:rPr lang="en-US" altLang="en-US" dirty="0" err="1"/>
              <a:t>protocollo</a:t>
            </a:r>
            <a:r>
              <a:rPr lang="en-US" altLang="en-US" dirty="0"/>
              <a:t> USB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40FD332C-ED62-90B0-122C-8A8E8AD60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079" y="2618515"/>
            <a:ext cx="7956376" cy="541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dirty="0" err="1"/>
              <a:t>Fase</a:t>
            </a:r>
            <a:r>
              <a:rPr lang="en-US" altLang="en-US" dirty="0"/>
              <a:t> di </a:t>
            </a:r>
            <a:r>
              <a:rPr lang="en-US" altLang="en-US" dirty="0" err="1"/>
              <a:t>riconoscimento</a:t>
            </a:r>
            <a:r>
              <a:rPr lang="en-US" altLang="en-US" dirty="0"/>
              <a:t> del </a:t>
            </a:r>
            <a:r>
              <a:rPr lang="en-US" altLang="en-US" dirty="0" err="1"/>
              <a:t>dispositivo</a:t>
            </a:r>
            <a:r>
              <a:rPr lang="en-US" altLang="en-US" dirty="0"/>
              <a:t> USB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868B86DE-DA6C-9319-9737-88ED98831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105" y="4022739"/>
            <a:ext cx="7956376" cy="541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dirty="0" err="1"/>
              <a:t>Esecuzione</a:t>
            </a:r>
            <a:r>
              <a:rPr lang="en-US" altLang="en-US" dirty="0"/>
              <a:t> </a:t>
            </a:r>
            <a:r>
              <a:rPr lang="en-US" altLang="en-US" dirty="0" err="1"/>
              <a:t>della</a:t>
            </a:r>
            <a:r>
              <a:rPr lang="en-US" altLang="en-US" dirty="0"/>
              <a:t> </a:t>
            </a:r>
            <a:r>
              <a:rPr lang="en-US" altLang="en-US" dirty="0" err="1"/>
              <a:t>classe</a:t>
            </a:r>
            <a:r>
              <a:rPr lang="en-US" altLang="en-US" dirty="0"/>
              <a:t> MIDI-USB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890BD4AB-BF4E-0D8A-5DEE-D7F2E133E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105" y="6089171"/>
            <a:ext cx="7956376" cy="541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1800" dirty="0"/>
              <a:t>Nota: in un </a:t>
            </a:r>
            <a:r>
              <a:rPr lang="en-US" altLang="en-US" sz="1800" dirty="0" err="1"/>
              <a:t>pacchetto</a:t>
            </a:r>
            <a:r>
              <a:rPr lang="en-US" altLang="en-US" sz="1800" dirty="0"/>
              <a:t> da 4 byte: il primo è </a:t>
            </a:r>
            <a:r>
              <a:rPr lang="en-US" altLang="en-US" sz="1800" dirty="0" err="1"/>
              <a:t>l’header</a:t>
            </a:r>
            <a:r>
              <a:rPr lang="en-US" altLang="en-US" sz="1800" dirty="0"/>
              <a:t> USB, </a:t>
            </a:r>
            <a:r>
              <a:rPr lang="en-US" altLang="en-US" sz="1800" dirty="0" err="1"/>
              <a:t>gli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altri</a:t>
            </a:r>
            <a:r>
              <a:rPr lang="en-US" altLang="en-US" sz="1800" dirty="0"/>
              <a:t> 3 </a:t>
            </a:r>
            <a:r>
              <a:rPr lang="en-US" altLang="en-US" sz="1800" dirty="0" err="1"/>
              <a:t>sono</a:t>
            </a:r>
            <a:r>
              <a:rPr lang="en-US" altLang="en-US" sz="1800" dirty="0"/>
              <a:t> </a:t>
            </a:r>
            <a:r>
              <a:rPr lang="en-US" altLang="en-US" sz="1800" dirty="0" err="1"/>
              <a:t>dedicati</a:t>
            </a:r>
            <a:r>
              <a:rPr lang="en-US" altLang="en-US" sz="1800" dirty="0"/>
              <a:t> al MIDI (status byte, data byte 1, data byte 2)</a:t>
            </a:r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4DFD7CEB-72F6-B0CF-7C97-ED155380E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946" y="4531590"/>
            <a:ext cx="7304107" cy="151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455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/>
              <a:t>INFORMATICA LM-18.</a:t>
            </a:r>
            <a:br>
              <a:rPr lang="it-IT" altLang="en-US" dirty="0"/>
            </a:br>
            <a:r>
              <a:rPr lang="it-IT" altLang="en-US" dirty="0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SW: </a:t>
            </a:r>
            <a:r>
              <a:rPr lang="en-US" altLang="en-US" dirty="0" err="1"/>
              <a:t>Gestione</a:t>
            </a:r>
            <a:r>
              <a:rPr lang="en-US" altLang="en-US" dirty="0"/>
              <a:t> del DAC (1)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8F1BCB2-0542-89D3-865A-A41C18C47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085" y="1052736"/>
            <a:ext cx="820583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/>
              <a:t>Inizializzazione</a:t>
            </a:r>
            <a:r>
              <a:rPr lang="en-US" altLang="en-US" dirty="0"/>
              <a:t> del DAC con I2C (</a:t>
            </a:r>
            <a:r>
              <a:rPr lang="en-US" altLang="en-US" dirty="0" err="1"/>
              <a:t>scrittura</a:t>
            </a:r>
            <a:r>
              <a:rPr lang="en-US" altLang="en-US" dirty="0"/>
              <a:t> del driver)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DF09D47-C77C-7315-DC08-A33D48F5C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20" y="1484784"/>
            <a:ext cx="6297359" cy="29513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4C8D07E-28EA-0E3D-242C-74AF09016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148" y="4581128"/>
            <a:ext cx="3707702" cy="209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190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/>
              <a:t>INFORMATICA LM-18.</a:t>
            </a:r>
            <a:br>
              <a:rPr lang="it-IT" altLang="en-US" dirty="0"/>
            </a:br>
            <a:r>
              <a:rPr lang="it-IT" altLang="en-US" dirty="0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SW: </a:t>
            </a:r>
            <a:r>
              <a:rPr lang="en-US" altLang="en-US" dirty="0" err="1"/>
              <a:t>Gestione</a:t>
            </a:r>
            <a:r>
              <a:rPr lang="en-US" altLang="en-US" dirty="0"/>
              <a:t> del DAC (2)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8F1BCB2-0542-89D3-865A-A41C18C47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66" y="1435924"/>
            <a:ext cx="4759162" cy="33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/>
              <a:t>Scambio</a:t>
            </a:r>
            <a:r>
              <a:rPr lang="en-US" altLang="en-US" dirty="0"/>
              <a:t> </a:t>
            </a:r>
            <a:r>
              <a:rPr lang="en-US" altLang="en-US" dirty="0" err="1"/>
              <a:t>dei</a:t>
            </a:r>
            <a:r>
              <a:rPr lang="en-US" altLang="en-US" dirty="0"/>
              <a:t> </a:t>
            </a:r>
            <a:r>
              <a:rPr lang="en-US" altLang="en-US" dirty="0" err="1"/>
              <a:t>dati</a:t>
            </a:r>
            <a:r>
              <a:rPr lang="en-US" altLang="en-US" dirty="0"/>
              <a:t> con I2S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Fs = 48kHz, </a:t>
            </a:r>
            <a:r>
              <a:rPr lang="en-US" altLang="en-US" dirty="0" err="1"/>
              <a:t>campioni</a:t>
            </a:r>
            <a:r>
              <a:rPr lang="en-US" altLang="en-US" dirty="0"/>
              <a:t> </a:t>
            </a:r>
            <a:r>
              <a:rPr lang="en-US" altLang="en-US" dirty="0" err="1"/>
              <a:t>su</a:t>
            </a:r>
            <a:r>
              <a:rPr lang="en-US" altLang="en-US" dirty="0"/>
              <a:t> 16 bit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/>
              <a:t>Tecnica</a:t>
            </a:r>
            <a:r>
              <a:rPr lang="en-US" altLang="en-US" dirty="0"/>
              <a:t> del double buffering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C73AD16-AF70-6C40-9CF8-03FBB5E09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987" y="1556792"/>
            <a:ext cx="3554172" cy="2792564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EE0BAFEE-12C4-251C-83BE-0FCF56DA3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38" y="4875579"/>
            <a:ext cx="8172400" cy="113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032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/>
              <a:t>INFORMATICA LM-18.</a:t>
            </a:r>
            <a:br>
              <a:rPr lang="it-IT" altLang="en-US" dirty="0"/>
            </a:br>
            <a:r>
              <a:rPr lang="it-IT" altLang="en-US" dirty="0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SW: </a:t>
            </a:r>
            <a:r>
              <a:rPr lang="en-US" altLang="en-US" dirty="0" err="1"/>
              <a:t>Gestione</a:t>
            </a:r>
            <a:r>
              <a:rPr lang="en-US" altLang="en-US" dirty="0"/>
              <a:t> del DSP + I/O (1) </a:t>
            </a:r>
          </a:p>
        </p:txBody>
      </p:sp>
      <p:sp>
        <p:nvSpPr>
          <p:cNvPr id="3" name="Segnaposto contenuto 1">
            <a:extLst>
              <a:ext uri="{FF2B5EF4-FFF2-40B4-BE49-F238E27FC236}">
                <a16:creationId xmlns:a16="http://schemas.microsoft.com/office/drawing/2014/main" id="{8C9E3EB6-AB58-E8C6-6458-394E74CAA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092200"/>
            <a:ext cx="8077200" cy="2336800"/>
          </a:xfrm>
        </p:spPr>
        <p:txBody>
          <a:bodyPr/>
          <a:lstStyle/>
          <a:p>
            <a:r>
              <a:rPr lang="it-IT" dirty="0"/>
              <a:t>La componente DSP: </a:t>
            </a:r>
          </a:p>
          <a:p>
            <a:pPr lvl="1"/>
            <a:r>
              <a:rPr lang="it-IT" dirty="0"/>
              <a:t>Riceve in Input un buffer da riempire</a:t>
            </a:r>
          </a:p>
          <a:p>
            <a:pPr lvl="1"/>
            <a:r>
              <a:rPr lang="it-IT" dirty="0"/>
              <a:t>Esegue tutti gli algoritmi audio necessari tenendo conto dei parametri selezionati dagli: switch/potenziometri/MIDI</a:t>
            </a:r>
          </a:p>
          <a:p>
            <a:pPr lvl="1"/>
            <a:r>
              <a:rPr lang="it-IT" dirty="0"/>
              <a:t>Fornisce in output il buffer contenente i campioni da inviare al DAC</a:t>
            </a:r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AFBEEC62-BA99-6BFA-7520-DB02723BE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12" y="3861048"/>
            <a:ext cx="8259956" cy="12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312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/>
              <a:t>INFORMATICA LM-18.</a:t>
            </a:r>
            <a:br>
              <a:rPr lang="it-IT" altLang="en-US" dirty="0"/>
            </a:br>
            <a:r>
              <a:rPr lang="it-IT" altLang="en-US" dirty="0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SW: </a:t>
            </a:r>
            <a:r>
              <a:rPr lang="en-US" altLang="en-US" dirty="0" err="1"/>
              <a:t>Gestione</a:t>
            </a:r>
            <a:r>
              <a:rPr lang="en-US" altLang="en-US" dirty="0"/>
              <a:t> del DSP + I/O (2) 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FD83EA2-3B59-7001-EF98-AF8C8F354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963128"/>
            <a:ext cx="7375024" cy="2873817"/>
          </a:xfrm>
          <a:prstGeom prst="rect">
            <a:avLst/>
          </a:prstGeom>
        </p:spPr>
      </p:pic>
      <p:sp>
        <p:nvSpPr>
          <p:cNvPr id="11" name="Segnaposto contenuto 1">
            <a:extLst>
              <a:ext uri="{FF2B5EF4-FFF2-40B4-BE49-F238E27FC236}">
                <a16:creationId xmlns:a16="http://schemas.microsoft.com/office/drawing/2014/main" id="{55B2DB13-9306-77CD-C9D9-A50EE061612C}"/>
              </a:ext>
            </a:extLst>
          </p:cNvPr>
          <p:cNvSpPr txBox="1">
            <a:spLocks/>
          </p:cNvSpPr>
          <p:nvPr/>
        </p:nvSpPr>
        <p:spPr bwMode="auto">
          <a:xfrm>
            <a:off x="762000" y="1052736"/>
            <a:ext cx="8077200" cy="161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it-IT" dirty="0"/>
              <a:t>I parametri dipendenti da:</a:t>
            </a:r>
          </a:p>
          <a:p>
            <a:pPr lvl="1" eaLnBrk="1" hangingPunct="1"/>
            <a:r>
              <a:rPr lang="it-IT" dirty="0"/>
              <a:t>Switch sono gestiti tramite interrupt</a:t>
            </a:r>
          </a:p>
          <a:p>
            <a:pPr lvl="1" eaLnBrk="1" hangingPunct="1"/>
            <a:r>
              <a:rPr lang="it-IT" dirty="0"/>
              <a:t>Da potenziometri sono gestiti tramite DMA </a:t>
            </a:r>
          </a:p>
          <a:p>
            <a:pPr lvl="1" eaLnBrk="1" hangingPunct="1"/>
            <a:r>
              <a:rPr lang="it-IT" dirty="0"/>
              <a:t>Da USB_MIDI sono gestiti tramite interrupt </a:t>
            </a:r>
          </a:p>
          <a:p>
            <a:pPr lvl="1" eaLnBrk="1" hangingPunct="1"/>
            <a:endParaRPr lang="it-IT" dirty="0"/>
          </a:p>
          <a:p>
            <a:pPr lvl="1" eaLnBrk="1" hangingPunct="1"/>
            <a:endParaRPr lang="it-IT" dirty="0"/>
          </a:p>
          <a:p>
            <a:pPr lvl="1" eaLnBrk="1" hangingPunct="1"/>
            <a:endParaRPr lang="it-IT" dirty="0"/>
          </a:p>
          <a:p>
            <a:pPr lvl="1" eaLnBrk="1" hangingPunct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50581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/>
              <a:t>INFORMATICA LM-18.</a:t>
            </a:r>
            <a:br>
              <a:rPr lang="it-IT" altLang="en-US" dirty="0"/>
            </a:br>
            <a:r>
              <a:rPr lang="it-IT" altLang="en-US" dirty="0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Analisi</a:t>
            </a:r>
            <a:r>
              <a:rPr lang="en-US" altLang="en-US" dirty="0"/>
              <a:t> </a:t>
            </a:r>
            <a:r>
              <a:rPr lang="en-US" altLang="en-US" dirty="0" err="1"/>
              <a:t>dei</a:t>
            </a:r>
            <a:r>
              <a:rPr lang="en-US" altLang="en-US" dirty="0"/>
              <a:t> Tempi di </a:t>
            </a:r>
            <a:r>
              <a:rPr lang="en-US" altLang="en-US" dirty="0" err="1"/>
              <a:t>Esecuzione</a:t>
            </a:r>
            <a:r>
              <a:rPr lang="en-US" altLang="en-US" dirty="0"/>
              <a:t> (I2S)</a:t>
            </a:r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0A46102A-191B-99C6-4B37-961507798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836712"/>
            <a:ext cx="8077200" cy="5760640"/>
          </a:xfrm>
        </p:spPr>
        <p:txBody>
          <a:bodyPr/>
          <a:lstStyle/>
          <a:p>
            <a:r>
              <a:rPr lang="it-IT" dirty="0"/>
              <a:t>Tempo di esecuzione dell’algoritmo audio a fronte di dimensioni di buffer crescenti: </a:t>
            </a:r>
          </a:p>
          <a:p>
            <a:pPr lvl="1"/>
            <a:r>
              <a:rPr lang="it-IT" dirty="0"/>
              <a:t>64 campioni:	0.5 </a:t>
            </a:r>
            <a:r>
              <a:rPr lang="it-IT" dirty="0" err="1"/>
              <a:t>ms</a:t>
            </a:r>
            <a:endParaRPr lang="it-IT" dirty="0"/>
          </a:p>
          <a:p>
            <a:pPr lvl="1"/>
            <a:r>
              <a:rPr lang="it-IT" dirty="0"/>
              <a:t>128 campioni: 	1 </a:t>
            </a:r>
            <a:r>
              <a:rPr lang="it-IT" dirty="0" err="1"/>
              <a:t>ms</a:t>
            </a:r>
            <a:endParaRPr lang="it-IT" dirty="0"/>
          </a:p>
          <a:p>
            <a:pPr lvl="1"/>
            <a:r>
              <a:rPr lang="it-IT" dirty="0"/>
              <a:t>256 campioni: 	2 </a:t>
            </a:r>
            <a:r>
              <a:rPr lang="it-IT" dirty="0" err="1"/>
              <a:t>ms</a:t>
            </a:r>
            <a:endParaRPr lang="it-IT" dirty="0"/>
          </a:p>
          <a:p>
            <a:pPr lvl="1"/>
            <a:r>
              <a:rPr lang="it-IT" dirty="0"/>
              <a:t>512 campioni: 	4 </a:t>
            </a:r>
            <a:r>
              <a:rPr lang="it-IT" dirty="0" err="1"/>
              <a:t>ms</a:t>
            </a:r>
            <a:endParaRPr lang="it-IT" dirty="0"/>
          </a:p>
          <a:p>
            <a:pPr lvl="1"/>
            <a:r>
              <a:rPr lang="it-IT" dirty="0"/>
              <a:t>1024 campioni: 	8 </a:t>
            </a:r>
            <a:r>
              <a:rPr lang="it-IT" dirty="0" err="1"/>
              <a:t>ms</a:t>
            </a:r>
            <a:endParaRPr lang="it-IT" dirty="0"/>
          </a:p>
          <a:p>
            <a:pPr lvl="1"/>
            <a:r>
              <a:rPr lang="it-IT" dirty="0"/>
              <a:t>2048 campioni: 	16 </a:t>
            </a:r>
            <a:r>
              <a:rPr lang="it-IT" dirty="0" err="1"/>
              <a:t>ms</a:t>
            </a:r>
            <a:endParaRPr lang="it-IT" dirty="0"/>
          </a:p>
          <a:p>
            <a:pPr lvl="1"/>
            <a:endParaRPr lang="it-IT" dirty="0"/>
          </a:p>
          <a:p>
            <a:r>
              <a:rPr lang="it-IT" dirty="0"/>
              <a:t>Tempo necessario per inviare un buffer a 48kHz: </a:t>
            </a:r>
          </a:p>
          <a:p>
            <a:pPr lvl="1"/>
            <a:r>
              <a:rPr lang="it-IT" dirty="0"/>
              <a:t>64 campioni: 64/48000 = 	       1.33 </a:t>
            </a:r>
            <a:r>
              <a:rPr lang="it-IT" dirty="0" err="1"/>
              <a:t>ms</a:t>
            </a:r>
            <a:endParaRPr lang="it-IT" dirty="0"/>
          </a:p>
          <a:p>
            <a:pPr lvl="1"/>
            <a:r>
              <a:rPr lang="it-IT" dirty="0"/>
              <a:t>128 campioni: 128/48000 =     2.66 </a:t>
            </a:r>
            <a:r>
              <a:rPr lang="it-IT" dirty="0" err="1"/>
              <a:t>ms</a:t>
            </a:r>
            <a:endParaRPr lang="it-IT" dirty="0"/>
          </a:p>
          <a:p>
            <a:pPr lvl="1"/>
            <a:r>
              <a:rPr lang="it-IT" dirty="0"/>
              <a:t>256 campioni: 256/48000 =     5.33 </a:t>
            </a:r>
            <a:r>
              <a:rPr lang="it-IT" dirty="0" err="1"/>
              <a:t>ms</a:t>
            </a:r>
            <a:endParaRPr lang="it-IT" dirty="0"/>
          </a:p>
          <a:p>
            <a:pPr lvl="1"/>
            <a:r>
              <a:rPr lang="it-IT" dirty="0"/>
              <a:t>512 campioni: 512/48000 =     10.66 </a:t>
            </a:r>
            <a:r>
              <a:rPr lang="it-IT" dirty="0" err="1"/>
              <a:t>ms</a:t>
            </a:r>
            <a:endParaRPr lang="it-IT" dirty="0"/>
          </a:p>
          <a:p>
            <a:pPr lvl="1"/>
            <a:r>
              <a:rPr lang="it-IT" dirty="0"/>
              <a:t>1024 campioni: 1024/48000 =  21.33 </a:t>
            </a:r>
            <a:r>
              <a:rPr lang="it-IT" dirty="0" err="1"/>
              <a:t>ms</a:t>
            </a:r>
            <a:endParaRPr lang="it-IT" dirty="0"/>
          </a:p>
          <a:p>
            <a:pPr lvl="1"/>
            <a:r>
              <a:rPr lang="it-IT" dirty="0"/>
              <a:t>2048 campioni: 2048/48000 =  42.66 </a:t>
            </a:r>
            <a:r>
              <a:rPr lang="it-IT" dirty="0" err="1"/>
              <a:t>ms</a:t>
            </a:r>
            <a:endParaRPr lang="it-IT" dirty="0"/>
          </a:p>
          <a:p>
            <a:pPr marL="457200" lvl="1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8344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/>
              <a:t>INFORMATICA LM-18.</a:t>
            </a:r>
            <a:br>
              <a:rPr lang="it-IT" altLang="en-US" dirty="0"/>
            </a:br>
            <a:r>
              <a:rPr lang="it-IT" altLang="en-US" dirty="0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Analisi</a:t>
            </a:r>
            <a:r>
              <a:rPr lang="en-US" altLang="en-US" dirty="0"/>
              <a:t> di Potenza </a:t>
            </a:r>
            <a:r>
              <a:rPr lang="en-US" altLang="en-US" dirty="0" err="1"/>
              <a:t>Dissipata</a:t>
            </a:r>
            <a:endParaRPr lang="en-US" altLang="en-US" dirty="0"/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B59D0AEB-3B43-87D6-7D76-A50975CFA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339850"/>
            <a:ext cx="8077200" cy="4673600"/>
          </a:xfrm>
        </p:spPr>
        <p:txBody>
          <a:bodyPr/>
          <a:lstStyle/>
          <a:p>
            <a:r>
              <a:rPr lang="it-IT" dirty="0"/>
              <a:t>Per calcolare la potenza dissipata sono stati considerati i seguenti componenti: </a:t>
            </a:r>
          </a:p>
          <a:p>
            <a:pPr lvl="1"/>
            <a:r>
              <a:rPr lang="pl-PL" dirty="0"/>
              <a:t>STM32F407: 3.3V * 55.95mA = 184.6 mW</a:t>
            </a:r>
            <a:endParaRPr lang="it-IT" dirty="0"/>
          </a:p>
          <a:p>
            <a:pPr lvl="1"/>
            <a:r>
              <a:rPr lang="it-IT" dirty="0"/>
              <a:t>CS43L22 (DAC): 25.48mW   </a:t>
            </a:r>
          </a:p>
          <a:p>
            <a:pPr lvl="1"/>
            <a:r>
              <a:rPr lang="it-IT" dirty="0"/>
              <a:t>11 Potenziometri: 11* (3.3V * 0.66 </a:t>
            </a:r>
            <a:r>
              <a:rPr lang="it-IT" dirty="0" err="1"/>
              <a:t>mA</a:t>
            </a:r>
            <a:r>
              <a:rPr lang="it-IT" dirty="0"/>
              <a:t>) = 2.4mW</a:t>
            </a:r>
          </a:p>
          <a:p>
            <a:pPr lvl="1"/>
            <a:r>
              <a:rPr lang="it-IT" dirty="0"/>
              <a:t>Potenza totale: 184.6 </a:t>
            </a:r>
            <a:r>
              <a:rPr lang="it-IT" dirty="0" err="1"/>
              <a:t>mW</a:t>
            </a:r>
            <a:r>
              <a:rPr lang="it-IT" dirty="0"/>
              <a:t> + 25.48mW + 2.4mW = 212.48 </a:t>
            </a:r>
            <a:r>
              <a:rPr lang="it-IT" dirty="0" err="1"/>
              <a:t>mW</a:t>
            </a:r>
            <a:endParaRPr lang="it-IT" dirty="0"/>
          </a:p>
          <a:p>
            <a:pPr marL="457200" lvl="1" indent="0">
              <a:buNone/>
            </a:pP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35B0458-46C3-B04C-5B56-9E5A04BE19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3" t="1656"/>
          <a:stretch/>
        </p:blipFill>
        <p:spPr>
          <a:xfrm>
            <a:off x="1066800" y="4077072"/>
            <a:ext cx="2381173" cy="216963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34103F3-4C11-A77F-4EA4-88D1070C5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4293096"/>
            <a:ext cx="1806097" cy="156985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87709331-E31E-B733-882A-630816A34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974" y="4228796"/>
            <a:ext cx="1705126" cy="176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763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/>
              <a:t>INFORMATICA LM-18.</a:t>
            </a:r>
            <a:br>
              <a:rPr lang="it-IT" altLang="en-US" dirty="0"/>
            </a:br>
            <a:r>
              <a:rPr lang="it-IT" altLang="en-US" dirty="0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Utilità</a:t>
            </a:r>
            <a:r>
              <a:rPr lang="en-US" altLang="en-US" dirty="0"/>
              <a:t> del </a:t>
            </a:r>
            <a:r>
              <a:rPr lang="en-US" altLang="en-US" dirty="0" err="1"/>
              <a:t>progetto</a:t>
            </a:r>
            <a:endParaRPr lang="en-US" altLang="en-US" dirty="0"/>
          </a:p>
        </p:txBody>
      </p:sp>
      <p:sp>
        <p:nvSpPr>
          <p:cNvPr id="3" name="Segnaposto contenuto 1">
            <a:extLst>
              <a:ext uri="{FF2B5EF4-FFF2-40B4-BE49-F238E27FC236}">
                <a16:creationId xmlns:a16="http://schemas.microsoft.com/office/drawing/2014/main" id="{FAE08858-74D4-1228-BB9B-1103296F2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339850"/>
            <a:ext cx="8077200" cy="4673600"/>
          </a:xfrm>
        </p:spPr>
        <p:txBody>
          <a:bodyPr/>
          <a:lstStyle/>
          <a:p>
            <a:r>
              <a:rPr lang="it-IT" dirty="0"/>
              <a:t>Lo sviluppo di questo progetto può risultare utile per i seguenti motivi: </a:t>
            </a:r>
          </a:p>
          <a:p>
            <a:pPr lvl="1"/>
            <a:r>
              <a:rPr lang="it-IT" dirty="0"/>
              <a:t>Utilità e Versatilità: il sintetizzatore può essere usato per creare suoni unici e personalizzati</a:t>
            </a:r>
          </a:p>
          <a:p>
            <a:pPr lvl="1"/>
            <a:r>
              <a:rPr lang="it-IT" dirty="0"/>
              <a:t>Apprendimento: grazie all’implementazione pratica degli algoritmi di sintesi, gli sviluppatori o gli appassionati di musica possono approfondire le materie inerenti all’ambito</a:t>
            </a:r>
          </a:p>
          <a:p>
            <a:pPr lvl="1"/>
            <a:r>
              <a:rPr lang="it-IT" dirty="0"/>
              <a:t>Integrazione: il synth può essere utilizzato sia come strumento musicale che per creare effetti sonori o scenografici</a:t>
            </a:r>
          </a:p>
          <a:p>
            <a:pPr lvl="1"/>
            <a:r>
              <a:rPr lang="it-IT" dirty="0"/>
              <a:t>Sperimentazione: questo progetto è la base per poter creare nuovi algoritmi che generino effetti sonori particolari e magari più ricercati</a:t>
            </a:r>
          </a:p>
        </p:txBody>
      </p:sp>
    </p:spTree>
    <p:extLst>
      <p:ext uri="{BB962C8B-B14F-4D97-AF65-F5344CB8AC3E}">
        <p14:creationId xmlns:p14="http://schemas.microsoft.com/office/powerpoint/2010/main" val="4131141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/>
              <a:t>INFORMATICA LM-18.</a:t>
            </a:r>
            <a:br>
              <a:rPr lang="it-IT" altLang="en-US" dirty="0"/>
            </a:br>
            <a:r>
              <a:rPr lang="it-IT" altLang="en-US" dirty="0"/>
              <a:t>ANNO ACCADEMICO 2023/2024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Conclusione</a:t>
            </a:r>
            <a:r>
              <a:rPr lang="en-US" altLang="en-US" dirty="0"/>
              <a:t> e </a:t>
            </a:r>
            <a:r>
              <a:rPr lang="en-US" altLang="en-US" dirty="0" err="1"/>
              <a:t>sviluppi</a:t>
            </a:r>
            <a:r>
              <a:rPr lang="en-US" altLang="en-US" dirty="0"/>
              <a:t> </a:t>
            </a:r>
            <a:r>
              <a:rPr lang="en-US" altLang="en-US" dirty="0" err="1"/>
              <a:t>futuri</a:t>
            </a:r>
            <a:endParaRPr lang="en-US" altLang="en-US" dirty="0"/>
          </a:p>
        </p:txBody>
      </p:sp>
      <p:sp>
        <p:nvSpPr>
          <p:cNvPr id="3" name="Segnaposto contenuto 1">
            <a:extLst>
              <a:ext uri="{FF2B5EF4-FFF2-40B4-BE49-F238E27FC236}">
                <a16:creationId xmlns:a16="http://schemas.microsoft.com/office/drawing/2014/main" id="{FAE08858-74D4-1228-BB9B-1103296F2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339850"/>
            <a:ext cx="8077200" cy="4673600"/>
          </a:xfrm>
        </p:spPr>
        <p:txBody>
          <a:bodyPr/>
          <a:lstStyle/>
          <a:p>
            <a:r>
              <a:rPr lang="it-IT" dirty="0"/>
              <a:t>In conclusione si può affermare che gli input analogici e digitali, il protocollo USB_MIDI, il driver del DAC e gli algoritmi DSP funzionano correttamente. </a:t>
            </a:r>
          </a:p>
          <a:p>
            <a:endParaRPr lang="it-IT" dirty="0"/>
          </a:p>
          <a:p>
            <a:r>
              <a:rPr lang="it-IT" dirty="0"/>
              <a:t>Per quanto riguarda gli sviluppi futuri è possibile: </a:t>
            </a:r>
          </a:p>
          <a:p>
            <a:pPr lvl="1"/>
            <a:r>
              <a:rPr lang="it-IT" dirty="0"/>
              <a:t>Estendere le funzionalità del protocollo MIDI</a:t>
            </a:r>
          </a:p>
          <a:p>
            <a:pPr lvl="1"/>
            <a:r>
              <a:rPr lang="it-IT" dirty="0"/>
              <a:t>Permettere l’interfacciamento con tutte le tastiere</a:t>
            </a:r>
          </a:p>
          <a:p>
            <a:pPr lvl="1"/>
            <a:r>
              <a:rPr lang="it-IT" dirty="0"/>
              <a:t>Aggiungere più funzionalità audio</a:t>
            </a:r>
          </a:p>
          <a:p>
            <a:pPr lvl="1"/>
            <a:r>
              <a:rPr lang="it-IT" dirty="0"/>
              <a:t>Creare un vero prodotto con la struttura in legno e saldare il circuito</a:t>
            </a:r>
          </a:p>
          <a:p>
            <a:endParaRPr lang="it-IT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582015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ma di Office">
      <a:majorFont>
        <a:latin typeface="Trebuchet MS"/>
        <a:ea typeface="ＭＳ Ｐゴシック"/>
        <a:cs typeface=""/>
      </a:majorFont>
      <a:minorFont>
        <a:latin typeface="Trebuchet M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Tema di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Tema di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ma di Office">
      <a:majorFont>
        <a:latin typeface="Trebuchet MS"/>
        <a:ea typeface="ＭＳ Ｐゴシック"/>
        <a:cs typeface=""/>
      </a:majorFont>
      <a:minorFont>
        <a:latin typeface="Trebuchet M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Tema di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A_PP_dipartimento_3r</Template>
  <TotalTime>25801</TotalTime>
  <Words>1170</Words>
  <Application>Microsoft Office PowerPoint</Application>
  <PresentationFormat>Presentazione su schermo (4:3)</PresentationFormat>
  <Paragraphs>159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20</vt:i4>
      </vt:variant>
    </vt:vector>
  </HeadingPairs>
  <TitlesOfParts>
    <vt:vector size="25" baseType="lpstr">
      <vt:lpstr>Arial</vt:lpstr>
      <vt:lpstr>Garamond</vt:lpstr>
      <vt:lpstr>Trebuchet MS</vt:lpstr>
      <vt:lpstr>Tema di Office</vt:lpstr>
      <vt:lpstr>Tema di Office</vt:lpstr>
      <vt:lpstr>MikroMOOD Sintetizzatore audio basato su STM32</vt:lpstr>
      <vt:lpstr>Indice</vt:lpstr>
      <vt:lpstr>Introduzione: MiniMOOG</vt:lpstr>
      <vt:lpstr>Obiettivi</vt:lpstr>
      <vt:lpstr>Protocolli</vt:lpstr>
      <vt:lpstr>Struttura del Sintetizzatore (1)</vt:lpstr>
      <vt:lpstr>Struttura del Sintetizzatore (2)</vt:lpstr>
      <vt:lpstr>Struttura del Sintetizzatore (3)</vt:lpstr>
      <vt:lpstr>Struttura del Sintetizzatore (4)</vt:lpstr>
      <vt:lpstr>SW: Gestione degli input digitali</vt:lpstr>
      <vt:lpstr>SW: Gestione degli input analogici</vt:lpstr>
      <vt:lpstr>SW: Gestione della tastiera MIDI</vt:lpstr>
      <vt:lpstr>SW: Gestione del DAC (1)</vt:lpstr>
      <vt:lpstr>SW: Gestione del DAC (2)</vt:lpstr>
      <vt:lpstr>SW: Gestione del DSP + I/O (1) </vt:lpstr>
      <vt:lpstr>SW: Gestione del DSP + I/O (2) </vt:lpstr>
      <vt:lpstr>Analisi dei Tempi di Esecuzione (I2S)</vt:lpstr>
      <vt:lpstr>Analisi di Potenza Dissipata</vt:lpstr>
      <vt:lpstr>Utilità del progetto</vt:lpstr>
      <vt:lpstr>Conclusione e sviluppi futuri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subject/>
  <dc:creator>Eugenio Demartini</dc:creator>
  <cp:keywords/>
  <dc:description/>
  <cp:lastModifiedBy>Davide Bianchi</cp:lastModifiedBy>
  <cp:revision>9</cp:revision>
  <dcterms:created xsi:type="dcterms:W3CDTF">2017-12-06T07:03:09Z</dcterms:created>
  <dcterms:modified xsi:type="dcterms:W3CDTF">2024-04-30T10:40:54Z</dcterms:modified>
  <cp:category/>
</cp:coreProperties>
</file>